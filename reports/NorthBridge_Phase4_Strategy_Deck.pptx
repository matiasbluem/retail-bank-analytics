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548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22548"/>
                </a:solidFill>
                <a:latin typeface="Cambria"/>
              </a:rPr>
              <a:t>Top Churn Drivers (Feature Importance, 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Complaint Count</c:v>
                  </c:pt>
                  <c:pt idx="1">
                    <c:v>Has Investment Account</c:v>
                  </c:pt>
                  <c:pt idx="2">
                    <c:v>Mobile Usage Score</c:v>
                  </c:pt>
                  <c:pt idx="3">
                    <c:v>Has Line of Credit</c:v>
                  </c:pt>
                  <c:pt idx="4">
                    <c:v>Avg eTransfers</c:v>
                  </c:pt>
                  <c:pt idx="5">
                    <c:v>Avg Monthly Spend</c:v>
                  </c:pt>
                  <c:pt idx="6">
                    <c:v>Segment</c:v>
                  </c:pt>
                  <c:pt idx="7">
                    <c:v>Avg Monthly Deposits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1.9</c:v>
                </c:pt>
                <c:pt idx="1">
                  <c:v>1.9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5</c:v>
                </c:pt>
                <c:pt idx="6">
                  <c:v>10.1</c:v>
                </c:pt>
                <c:pt idx="7">
                  <c:v>11.8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Penetration %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Chequing</c:v>
                  </c:pt>
                  <c:pt idx="1">
                    <c:v>Savings</c:v>
                  </c:pt>
                  <c:pt idx="2">
                    <c:v>Credit Card</c:v>
                  </c:pt>
                  <c:pt idx="3">
                    <c:v>TFSA</c:v>
                  </c:pt>
                  <c:pt idx="4">
                    <c:v>RRSP</c:v>
                  </c:pt>
                  <c:pt idx="5">
                    <c:v>Mortgage</c:v>
                  </c:pt>
                  <c:pt idx="6">
                    <c:v>Investment Account</c:v>
                  </c:pt>
                  <c:pt idx="7">
                    <c:v>GIC</c:v>
                  </c:pt>
                  <c:pt idx="8">
                    <c:v>Line of Credit</c:v>
                  </c:pt>
                  <c:pt idx="9">
                    <c:v>Personal Loan</c:v>
                  </c:pt>
                  <c:pt idx="10">
                    <c:v>Student Account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93.63</c:v>
                </c:pt>
                <c:pt idx="1">
                  <c:v>80.59</c:v>
                </c:pt>
                <c:pt idx="2">
                  <c:v>66.6</c:v>
                </c:pt>
                <c:pt idx="3">
                  <c:v>53.74</c:v>
                </c:pt>
                <c:pt idx="4">
                  <c:v>42.58</c:v>
                </c:pt>
                <c:pt idx="5">
                  <c:v>29.14</c:v>
                </c:pt>
                <c:pt idx="6">
                  <c:v>27.99</c:v>
                </c:pt>
                <c:pt idx="7">
                  <c:v>25.34</c:v>
                </c:pt>
                <c:pt idx="8">
                  <c:v>20.87</c:v>
                </c:pt>
                <c:pt idx="9">
                  <c:v>15.61</c:v>
                </c:pt>
                <c:pt idx="10">
                  <c:v>10.09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94A3B8"/>
                    </a:solidFill>
                    <a:latin typeface="Arial"/>
                  </a:rPr>
                  <a:t>Penetration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5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1B3A6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2563EB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18745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Banking Growth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Retention Strategy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Predictive Analytics, Executive Dashboard &amp; Strategic Recommendations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201168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Toronto Area Market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Period: January – December 2025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10,000 Customers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8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BY SENIOR ANALYTICS TEAM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Phases, One Connected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260604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7" name="Image 0" descr="/home/claude/pptx_build/icons/c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7157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20040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Assessment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749040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the Toronto retail banking opportunity, mapped competitors, and defined five strategic customer segments.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6916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84448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584448" y="26060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1" descr="/home/claude/pptx_build/icons/databas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71576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320040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Dataset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84448" y="3749040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10,000-customer synthetic dataset calibrated to Toronto CMA demographic and banking behavior signals.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6916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19088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419088" y="26060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9" name="Image 2" descr="/home/claude/pptx_build/icons/chartba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71576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9088" y="320040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Analytics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19088" y="3749040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churn drivers, CLV by segment, product penetration gaps, and digital engagement patterns.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52560" y="16916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122548"/>
          </a:solidFill>
          <a:ln w="12700">
            <a:solidFill>
              <a:srgbClr val="122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253728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9253728" y="260604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5" name="Image 3" descr="/home/claude/pptx_build/icons/targ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2715768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53728" y="320040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 &amp; Strategy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253728" y="3749040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churn prediction model, SQL analytics layer, executive dashboard, and prioritized retention roadmap.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9253728" y="542239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  ·  Retail Banking Strategy Engagement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8988552" y="6565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Strategy Deck   | 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01368"/>
            <a:ext cx="1828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51368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275143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GTA portfolio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816352" y="169164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53512" y="1801368"/>
            <a:ext cx="1828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11.68%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53512" y="251368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53512" y="275143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1,168 customers lost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84064" y="169164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21224" y="1801368"/>
            <a:ext cx="1828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$2.51B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221224" y="251368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21224" y="275143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products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51776" y="169164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88936" y="1801368"/>
            <a:ext cx="1828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$14.6M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88936" y="251368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CLV AT RISK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88936" y="275143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churned customers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619488" y="169164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56648" y="1801368"/>
            <a:ext cx="1828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84.8%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756648" y="251368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BANK RATE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756648" y="275143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60 / 100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3383280"/>
            <a:ext cx="110642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Risk Concentrates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4069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37560" y="4105656"/>
            <a:ext cx="5120640" cy="219456"/>
          </a:xfrm>
          <a:prstGeom prst="roundRect">
            <a:avLst>
              <a:gd name="adj" fmla="val 12500"/>
            </a:avLst>
          </a:prstGeom>
          <a:solidFill>
            <a:srgbClr val="EDF1F7"/>
          </a:solidFill>
          <a:ln/>
        </p:spPr>
      </p:sp>
      <p:sp>
        <p:nvSpPr>
          <p:cNvPr id="28" name="Shape 26"/>
          <p:cNvSpPr/>
          <p:nvPr/>
        </p:nvSpPr>
        <p:spPr>
          <a:xfrm>
            <a:off x="3337560" y="4105656"/>
            <a:ext cx="4581266" cy="219456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8549640" y="40690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26.84%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" y="44531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Newcomers to Canada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37560" y="4489704"/>
            <a:ext cx="5120640" cy="219456"/>
          </a:xfrm>
          <a:prstGeom prst="roundRect">
            <a:avLst>
              <a:gd name="adj" fmla="val 12500"/>
            </a:avLst>
          </a:prstGeom>
          <a:solidFill>
            <a:srgbClr val="EDF1F7"/>
          </a:solidFill>
          <a:ln/>
        </p:spPr>
      </p:sp>
      <p:sp>
        <p:nvSpPr>
          <p:cNvPr id="32" name="Shape 30"/>
          <p:cNvSpPr/>
          <p:nvPr/>
        </p:nvSpPr>
        <p:spPr>
          <a:xfrm>
            <a:off x="3337560" y="4489704"/>
            <a:ext cx="3720998" cy="219456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8549640" y="44531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68680" y="4837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Professionals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37560" y="4873752"/>
            <a:ext cx="5120640" cy="219456"/>
          </a:xfrm>
          <a:prstGeom prst="roundRect">
            <a:avLst>
              <a:gd name="adj" fmla="val 12500"/>
            </a:avLst>
          </a:prstGeom>
          <a:solidFill>
            <a:srgbClr val="EDF1F7"/>
          </a:solidFill>
          <a:ln/>
        </p:spPr>
      </p:sp>
      <p:sp>
        <p:nvSpPr>
          <p:cNvPr id="36" name="Shape 34"/>
          <p:cNvSpPr/>
          <p:nvPr/>
        </p:nvSpPr>
        <p:spPr>
          <a:xfrm>
            <a:off x="3337560" y="4873752"/>
            <a:ext cx="1560088" cy="219456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8549640" y="48371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9.14%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68680" y="5221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37560" y="5257800"/>
            <a:ext cx="5120640" cy="219456"/>
          </a:xfrm>
          <a:prstGeom prst="roundRect">
            <a:avLst>
              <a:gd name="adj" fmla="val 12500"/>
            </a:avLst>
          </a:prstGeom>
          <a:solidFill>
            <a:srgbClr val="EDF1F7"/>
          </a:solidFill>
          <a:ln/>
        </p:spPr>
      </p:sp>
      <p:sp>
        <p:nvSpPr>
          <p:cNvPr id="40" name="Shape 38"/>
          <p:cNvSpPr/>
          <p:nvPr/>
        </p:nvSpPr>
        <p:spPr>
          <a:xfrm>
            <a:off x="3337560" y="5257800"/>
            <a:ext cx="455737" cy="219456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</p:sp>
      <p:sp>
        <p:nvSpPr>
          <p:cNvPr id="41" name="Text 39"/>
          <p:cNvSpPr/>
          <p:nvPr/>
        </p:nvSpPr>
        <p:spPr>
          <a:xfrm>
            <a:off x="8549640" y="52212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2.67%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68680" y="5605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Customers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337560" y="5641848"/>
            <a:ext cx="5120640" cy="219456"/>
          </a:xfrm>
          <a:prstGeom prst="roundRect">
            <a:avLst>
              <a:gd name="adj" fmla="val 12500"/>
            </a:avLst>
          </a:prstGeom>
          <a:solidFill>
            <a:srgbClr val="EDF1F7"/>
          </a:solidFill>
          <a:ln/>
        </p:spPr>
      </p:sp>
      <p:sp>
        <p:nvSpPr>
          <p:cNvPr id="44" name="Shape 42"/>
          <p:cNvSpPr/>
          <p:nvPr/>
        </p:nvSpPr>
        <p:spPr>
          <a:xfrm>
            <a:off x="3337560" y="5641848"/>
            <a:ext cx="216774" cy="219456"/>
          </a:xfrm>
          <a:prstGeom prst="roundRect">
            <a:avLst>
              <a:gd name="adj" fmla="val 12655"/>
            </a:avLst>
          </a:prstGeom>
          <a:solidFill>
            <a:srgbClr val="16A34A"/>
          </a:solidFill>
          <a:ln/>
        </p:spPr>
      </p:sp>
      <p:sp>
        <p:nvSpPr>
          <p:cNvPr id="45" name="Text 43"/>
          <p:cNvSpPr/>
          <p:nvPr/>
        </p:nvSpPr>
        <p:spPr>
          <a:xfrm>
            <a:off x="8549640" y="56052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464040" y="4069080"/>
            <a:ext cx="1965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Newcomers churn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8–20x higher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Families and Affluent customers, despite representing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34%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base.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  ·  Retail Banking Strategy Engagement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988552" y="6565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Strategy Deck   | 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6" name="Image 0" descr="/home/claude/pptx_build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concentrates in shallow relationships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count and account balance are the strongest predictors. Students (26.8%) and Newcomers (21.8%) drive most of the loss.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5740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1" name="Image 1" descr="/home/claude/pptx_build/icons/handmone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945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116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$14.6M in 5-year CLV is at risk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92240" y="26974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Professionals ($5.7M) and Families ($5.0M) account for 73% of CLV lost to churn — the highest-leverage recovery targets.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2" descr="/home/claude/pptx_build/icons/mob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976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14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engagement alone doesn't retain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8006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and retained customers show similar app usage. Digital activity must convert into product depth and direct deposit.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160520"/>
            <a:ext cx="548640" cy="54864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21" name="Image 3" descr="/home/claude/pptx_build/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297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1148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 and Affluent customers are the anchor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92240" y="48006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Sub-3% churn, $327M in combined CLV. Defend with relationship-led service, not broad campaigns.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  ·  Retail Banking Strategy Engagement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8988552" y="6565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Strategy Deck   | 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Performance Matrix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265176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554480"/>
                <a:gridCol w="1554480"/>
                <a:gridCol w="1554480"/>
                <a:gridCol w="1097280"/>
              </a:tblGrid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Churn Rate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Avg Products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Avg Balance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Avg 5yr CLV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CLV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Families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2,586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2.67%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5.52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$460K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$65K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</a:rPr>
                        <a:t>$168.9M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Affluent Customers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865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1.27%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6.63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$942K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$183K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</a:rPr>
                        <a:t>$158.6M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Young Professionals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3,152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</a:rPr>
                        <a:t>9.14%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4.77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$134K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$19K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</a:rPr>
                        <a:t>$60.0M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Newcomers to Canada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2,216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</a:rPr>
                        <a:t>21.8%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3.41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$39K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$3K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</a:rPr>
                        <a:t>$7.4M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Students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1,181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</a:rPr>
                        <a:t>26.84%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3.39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$2K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$620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</a:rPr>
                        <a:t>$733K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DCE6F5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9377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2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read: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Customers and Families together hold 82.7% of total portfolio CLV with combined churn under 3%. Young Professionals are the highest-leverage growth segment — large base, moderate churn, and CLV that will compound as the segment ages into mortgages and wealth products.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  ·  Retail Banking Strategy Engagement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988552" y="6565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Strategy Deck   | 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Prediction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12254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1214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77440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3346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0" y="33467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3675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77440" y="3675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77440" y="40050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4334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77440" y="43342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/ 25%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4663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77440" y="4663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 (F1-optimized)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8680" y="5038344"/>
            <a:ext cx="2971800" cy="0"/>
          </a:xfrm>
          <a:prstGeom prst="line">
            <a:avLst/>
          </a:prstGeom>
          <a:noFill/>
          <a:ln w="12700">
            <a:solidFill>
              <a:srgbClr val="3D5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175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54315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0.7083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423160" y="5175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23160" y="54315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0.2127</a:t>
            </a:r>
            <a:endParaRPr lang="en-US" sz="24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434840" y="1691640"/>
          <a:ext cx="7178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4434840" y="5486400"/>
            <a:ext cx="717804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</p:sp>
      <p:sp>
        <p:nvSpPr>
          <p:cNvPr id="26" name="Text 23"/>
          <p:cNvSpPr/>
          <p:nvPr/>
        </p:nvSpPr>
        <p:spPr>
          <a:xfrm>
            <a:off x="4663440" y="55961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2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deposit behavior and segment membership dominate — primary-bank cash flow patterns predict churn better than any single product flag.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  ·  Retail Banking Strategy Engagement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988552" y="6565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Strategy Deck   | 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&amp; Risk Segmentation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set, n = 2,500 customers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4846320" cy="164592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Predicted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Predicted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Churned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</a:rPr>
                        <a:t>1411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706"/>
                          </a:solidFill>
                        </a:rPr>
                        <a:t>797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Churned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7706"/>
                          </a:solidFill>
                        </a:rPr>
                        <a:t>95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</a:rPr>
                        <a:t>197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14800"/>
            <a:ext cx="484632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25196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2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(catch rate):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actual churners are flagged.
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2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flagged customers actually churn.
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2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to catch more true churners, accepting more false positives — appropriate when a missed churner costs more than an unnecessary call.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5216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 DISTRIBUTION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scored by predicted churn probability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52160" y="2331720"/>
            <a:ext cx="5760720" cy="841248"/>
          </a:xfrm>
          <a:prstGeom prst="roundRect">
            <a:avLst>
              <a:gd name="adj" fmla="val 6522"/>
            </a:avLst>
          </a:prstGeom>
          <a:solidFill>
            <a:srgbClr val="E8F7EE"/>
          </a:solidFill>
          <a:ln/>
        </p:spPr>
      </p:sp>
      <p:sp>
        <p:nvSpPr>
          <p:cNvPr id="12" name="Shape 9"/>
          <p:cNvSpPr/>
          <p:nvPr/>
        </p:nvSpPr>
        <p:spPr>
          <a:xfrm>
            <a:off x="6016752" y="2615184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3,665 customers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046720" y="233172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 — standard relationship management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5852160" y="3319272"/>
            <a:ext cx="5760720" cy="841248"/>
          </a:xfrm>
          <a:prstGeom prst="roundRect">
            <a:avLst>
              <a:gd name="adj" fmla="val 6522"/>
            </a:avLst>
          </a:prstGeom>
          <a:solidFill>
            <a:srgbClr val="FEF3DC"/>
          </a:solidFill>
          <a:ln/>
        </p:spPr>
      </p:sp>
      <p:sp>
        <p:nvSpPr>
          <p:cNvPr id="17" name="Shape 14"/>
          <p:cNvSpPr/>
          <p:nvPr/>
        </p:nvSpPr>
        <p:spPr>
          <a:xfrm>
            <a:off x="6016752" y="3602736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5"/>
          <p:cNvSpPr/>
          <p:nvPr/>
        </p:nvSpPr>
        <p:spPr>
          <a:xfrm>
            <a:off x="6446520" y="34107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4652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2,097 customers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046720" y="3319272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in quarterly engagement campaigns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5852160" y="4306824"/>
            <a:ext cx="5760720" cy="841248"/>
          </a:xfrm>
          <a:prstGeom prst="roundRect">
            <a:avLst>
              <a:gd name="adj" fmla="val 6522"/>
            </a:avLst>
          </a:prstGeom>
          <a:solidFill>
            <a:srgbClr val="FDE7DA"/>
          </a:solidFill>
          <a:ln/>
        </p:spPr>
      </p:sp>
      <p:sp>
        <p:nvSpPr>
          <p:cNvPr id="22" name="Shape 19"/>
          <p:cNvSpPr/>
          <p:nvPr/>
        </p:nvSpPr>
        <p:spPr>
          <a:xfrm>
            <a:off x="6016752" y="4590288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3" name="Text 20"/>
          <p:cNvSpPr/>
          <p:nvPr/>
        </p:nvSpPr>
        <p:spPr>
          <a:xfrm>
            <a:off x="6446520" y="43982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46520" y="4718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2,148 customers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046720" y="4306824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advisor call within 30 days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5852160" y="5294376"/>
            <a:ext cx="5760720" cy="841248"/>
          </a:xfrm>
          <a:prstGeom prst="roundRect">
            <a:avLst>
              <a:gd name="adj" fmla="val 6522"/>
            </a:avLst>
          </a:prstGeom>
          <a:solidFill>
            <a:srgbClr val="FCE4E4"/>
          </a:solidFill>
          <a:ln/>
        </p:spPr>
      </p:sp>
      <p:sp>
        <p:nvSpPr>
          <p:cNvPr id="27" name="Shape 24"/>
          <p:cNvSpPr/>
          <p:nvPr/>
        </p:nvSpPr>
        <p:spPr>
          <a:xfrm>
            <a:off x="6016752" y="557784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5"/>
          <p:cNvSpPr/>
          <p:nvPr/>
        </p:nvSpPr>
        <p:spPr>
          <a:xfrm>
            <a:off x="6446520" y="53858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46520" y="5705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2,090 customers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046720" y="5294376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retention offer + advisor escalation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  ·  Retail Banking Strategy Engagement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988552" y="6565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Strategy Deck   | 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Penetration &amp; Cross-Sell Gaps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91640"/>
            <a:ext cx="3931920" cy="4434840"/>
          </a:xfrm>
          <a:prstGeom prst="roundRect">
            <a:avLst>
              <a:gd name="adj" fmla="val 2326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PRIORITY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55280" y="22128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products sit below their ceiling given chequing penetration of 94%.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95528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TFSA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92640" y="2880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53.7%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321868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gap to chequing-level penetration is the single highest-leverage product expansion.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955280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RRSP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9264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42.6%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42702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revenue-per-balance; deepens retirement planning relationship.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955280" y="4983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Mortgage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92640" y="4983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29.1%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55280" y="53218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switching-cost lever — wins the 25-year primary relationship.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  ·  Retail Banking Strategy Engagement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988552" y="6565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Strategy Deck   | 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5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Analytics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HTML dashboard accompanies this engagement, giving stakeholders a live view into segment performance, churn risk, and product economics without needing to open the underlying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32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2532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KPIs, churn by segment, model risk bands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083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3008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segment matrix — churn, CLV, tenure, NPS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602736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4838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3483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confusion matrix, feature importance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593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3959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rates and cross-sell economics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553712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34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GTA churn and CLV by geography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1B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492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NorthBridge_Executive_Dashboard.html — opens in any browser, no installation required.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80960" y="1417320"/>
            <a:ext cx="3977640" cy="46634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0" y="1417320"/>
            <a:ext cx="397764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14447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Analytics Dashboard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18120" y="1920240"/>
            <a:ext cx="1691640" cy="621792"/>
          </a:xfrm>
          <a:prstGeom prst="roundRect">
            <a:avLst>
              <a:gd name="adj" fmla="val 7353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7909560" y="197510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09560" y="2304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646920" y="1920240"/>
            <a:ext cx="1691640" cy="621792"/>
          </a:xfrm>
          <a:prstGeom prst="roundRect">
            <a:avLst>
              <a:gd name="adj" fmla="val 7353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9738360" y="197510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11.68%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738360" y="2304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818120" y="2633472"/>
            <a:ext cx="1691640" cy="621792"/>
          </a:xfrm>
          <a:prstGeom prst="roundRect">
            <a:avLst>
              <a:gd name="adj" fmla="val 7353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7909560" y="26883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$2.51B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909560" y="30175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646920" y="2633472"/>
            <a:ext cx="1691640" cy="621792"/>
          </a:xfrm>
          <a:prstGeom prst="roundRect">
            <a:avLst>
              <a:gd name="adj" fmla="val 7353"/>
            </a:avLst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9738360" y="26883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84.8%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738360" y="30175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Bank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81812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Segment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818120" y="3813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098280" y="3849624"/>
            <a:ext cx="2011680" cy="146304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9098280" y="3849624"/>
            <a:ext cx="1996779" cy="146304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7818120" y="41056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Newcomers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098280" y="4142232"/>
            <a:ext cx="2011680" cy="146304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43" name="Shape 41"/>
          <p:cNvSpPr/>
          <p:nvPr/>
        </p:nvSpPr>
        <p:spPr>
          <a:xfrm>
            <a:off x="9098280" y="4142232"/>
            <a:ext cx="1624245" cy="146304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7818120" y="43982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Prof.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098280" y="4434840"/>
            <a:ext cx="2011680" cy="146304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46" name="Shape 44"/>
          <p:cNvSpPr/>
          <p:nvPr/>
        </p:nvSpPr>
        <p:spPr>
          <a:xfrm>
            <a:off x="9098280" y="4434840"/>
            <a:ext cx="678011" cy="146304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/>
        </p:spPr>
      </p:sp>
      <p:sp>
        <p:nvSpPr>
          <p:cNvPr id="47" name="Text 45"/>
          <p:cNvSpPr/>
          <p:nvPr/>
        </p:nvSpPr>
        <p:spPr>
          <a:xfrm>
            <a:off x="7818120" y="4690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098280" y="4727448"/>
            <a:ext cx="2011680" cy="146304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49" name="Shape 47"/>
          <p:cNvSpPr/>
          <p:nvPr/>
        </p:nvSpPr>
        <p:spPr>
          <a:xfrm>
            <a:off x="9098280" y="4727448"/>
            <a:ext cx="201168" cy="146304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</p:sp>
      <p:sp>
        <p:nvSpPr>
          <p:cNvPr id="50" name="Text 48"/>
          <p:cNvSpPr/>
          <p:nvPr/>
        </p:nvSpPr>
        <p:spPr>
          <a:xfrm>
            <a:off x="7818120" y="49834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098280" y="5020056"/>
            <a:ext cx="2011680" cy="146304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52" name="Shape 50"/>
          <p:cNvSpPr/>
          <p:nvPr/>
        </p:nvSpPr>
        <p:spPr>
          <a:xfrm>
            <a:off x="9098280" y="5020056"/>
            <a:ext cx="96859" cy="146304"/>
          </a:xfrm>
          <a:prstGeom prst="roundRect">
            <a:avLst>
              <a:gd name="adj" fmla="val 18881"/>
            </a:avLst>
          </a:prstGeom>
          <a:solidFill>
            <a:srgbClr val="16A34A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  ·  Retail Banking Strategy Engagement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988552" y="6565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Strategy Deck   | 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Analytics Layer &amp; Data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 3 analytics were translated into production-ready ANSI SQL, compatible with PostgreSQL, Snowflake, and SQL Server. The model follows a star schema for direct Power BI consumption.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37360" y="34747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2254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dim_customer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82880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rows · churn, CLV,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score, segment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749040" y="3977640"/>
            <a:ext cx="2286000" cy="-11887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2331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24048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fact_product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_holdings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46.6K rows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49040" y="3977640"/>
            <a:ext cx="2286000" cy="457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35661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639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2648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 rows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49040" y="3977640"/>
            <a:ext cx="2286000" cy="12801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4800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4873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digital_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26480" y="5349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rows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35040" y="5897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joined: branch_interaction · customer_satisfaction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595360" y="2148840"/>
            <a:ext cx="3063240" cy="4069080"/>
          </a:xfrm>
          <a:prstGeom prst="roundRect">
            <a:avLst>
              <a:gd name="adj" fmla="val 2388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882396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LIBRARY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23960" y="2697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34272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segment / region / tenure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8823960" y="32004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34272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CLV by segment + at-risk CLV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823960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34272" y="3703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penetration &amp; cross-sell gaps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8823960" y="4206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34272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engagement vs. churn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8823960" y="4709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034272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/ CSAT / complaint analysis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8823960" y="5212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34272" y="5212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retention target list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8823960" y="5715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34272" y="5715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summary view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  ·  Retail Banking Strategy Engagement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988552" y="6565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Strategy Deck   |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5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Priorities, Ranked by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B3A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01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Deposit Activation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9443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payroll deposit the primary activation metric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901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Risk Scoring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9443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proactive outreach for High/Critical tier customers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901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6676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Young Professional Mortgages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66760" y="29443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first-home advisory pipeline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B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50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Newcomer Activation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50932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onboarding friction for the second-highest churn segment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343400" y="3886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B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050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Affluent &amp; Family Defense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0" y="50932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advisory for the portfolio's highest-CLV relationships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8138160" y="3886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B3A6B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4050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66760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Lifecycle Investment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66760" y="50932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long-term value through graduation-stage conversion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  ·  Retail Banking Strategy Engagement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988552" y="6565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Strategy Deck   | 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  Direct Deposit Activation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deposit is the strongest behavioral anchor of primary-bank status. 28% of Young Professionals and 45% of Newcomers lack 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7685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activation campaign within 30 days of account opening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0" y="227685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 incentive for setup within 60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82549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715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setup rate as a tier-1 activation KPI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282549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715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Young Professionals and Newcomers segments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  Churn Risk Scoring for Proactive Outreach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and Critical-risk customers (23.6% of the portfolio) account for over 45% of actual churn — and are identifiable before they leave.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5230368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1206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monthly churn scoring using the XGBoost model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5230368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51206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High/Critical customers to advisor calls within 30 days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5733288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6235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offers using product propensity logic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5733288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56235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20% conversion of contacted customers within 90 days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  ·  Retail Banking Strategy Engagement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988552" y="6565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Strategy Deck   | 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  Young Professional Mortgage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penetration in this segment is 20% vs. 65% for Families. Winning the mortgage wins the 25-year primary relationship.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7685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First Home Advisory Program — savings to FHSA to pre-approval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0" y="227685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relationship managers in Downtown and North York branches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82549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715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referral pipelines with real estate agents and brokers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282549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715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20% → 30% mortgage penetration within 18 months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  Newcomer Activation Journey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Newcomers churn at 21.8% — the second-highest rate — despite being one of the bank's fastest-growing segments.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5230368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1206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onboarding: guided setup, multilingual support, 90-day checklist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5230368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51206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Newcomer Credit Card — $500 secured, no annual fee year 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5733288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6235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Newcomer Advisors in Scarborough, Brampton, Mississauga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5733288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56235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GIC + TFSA newcomer savings package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  ·  Retail Banking Strategy Engagement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988552" y="6565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Strategy Deck   | 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  Affluent &amp; Family Relationship Defense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Sub-3% churn and $327M in combined CLV. These relationships must be defended through advisory depth, not broad campaigns.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7685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relationship review 90 days before any major renewal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0" y="227685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Family Banking Bundle: mortgage + RRSP + RESP + joint account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82549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715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every Affluent customer has a named relationship manager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282549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715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2+ advisory touches per year per Affluent customer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R6  Student Lifecycle Investment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churn at 26.8% with minimal near-term revenue — but represent the highest-value long-term lifecycle acquisition.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5230368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1206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Student Banking Bundle — no-fee chequing, starter credit, TFSA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5230368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51206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in-app financial literacy content for students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5733288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6235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automatic Student → Young Professional upgrade path at graduation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5733288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56235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student-to-young-professional conversion as a lifecycle KPI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  ·  Retail Banking Strategy Engagement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988552" y="6565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Strategy Deck   | 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90-Day Implementation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61188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3611880" cy="685800"/>
          </a:xfrm>
          <a:prstGeom prst="roundRect">
            <a:avLst>
              <a:gd name="adj" fmla="val 13333"/>
            </a:avLst>
          </a:prstGeom>
          <a:solidFill>
            <a:srgbClr val="1B3A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019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D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30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118872" cy="118872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churn risk scoring to CRM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118872" cy="118872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direct deposit campaign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4572000"/>
            <a:ext cx="118872" cy="118872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480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executive dashboard in production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182880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4343400" y="1828800"/>
            <a:ext cx="361188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1828800"/>
            <a:ext cx="3611880" cy="68580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9019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D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130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0" y="2834640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High/Critical risk outreach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3703320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Newcomer Credit Card pilot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4572000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4480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branch staff on FHSA + mortgage bundle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182880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8160" y="1828800"/>
            <a:ext cx="3611880" cy="685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Shape 26"/>
          <p:cNvSpPr/>
          <p:nvPr/>
        </p:nvSpPr>
        <p:spPr>
          <a:xfrm>
            <a:off x="8138160" y="1828800"/>
            <a:ext cx="3611880" cy="68580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19019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D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66760" y="2130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Measure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66760" y="2834640"/>
            <a:ext cx="118872" cy="1188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859536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outreach to Medium-risk tier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66760" y="3703320"/>
            <a:ext cx="118872" cy="1188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859536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Family Banking Bundle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66760" y="4572000"/>
            <a:ext cx="118872" cy="1188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8595360" y="4480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Phase 1 results to executive committee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Bank  ·  Retail Banking Strategy Engagement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988552" y="6565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Strategy Deck   |  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5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1B3A6B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Growth &amp; Retention Strategy — Phases 1 through 4 Complete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201168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Analytics 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model, SQL analytics layer, executive dashboard, strategy deck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8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Banking Growth &amp; Retention Strategy — Phase 4</dc:title>
  <dc:subject>PptxGenJS Presentation</dc:subject>
  <dc:creator>NorthBridge Bank Analytics Team</dc:creator>
  <cp:lastModifiedBy>NorthBridge Bank Analytics Team</cp:lastModifiedBy>
  <cp:revision>1</cp:revision>
  <dcterms:created xsi:type="dcterms:W3CDTF">2026-06-21T01:57:03Z</dcterms:created>
  <dcterms:modified xsi:type="dcterms:W3CDTF">2026-06-21T01:57:03Z</dcterms:modified>
</cp:coreProperties>
</file>